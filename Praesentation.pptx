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9FACD75-FF56-47F1-84D0-13E9D887B945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A931D-E93C-417B-A330-E101571351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71B008-D992-48EF-963F-0A97D94001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03CE30-0B17-4799-B1C8-A9FCA83110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12E9E7-33BE-43D4-9832-BAF1AEC63D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90D26D-A09B-408B-B395-76B6833684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9509AD-3C93-4487-8DB1-4FD8C36ECC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534597-A2A2-4E59-8046-D06CAFAC3D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796183-71BB-4F67-B1EF-14336D0BE9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B38F18-E534-4959-92DC-26591FE95B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</a:t>
            </a: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Titeltextes </a:t>
            </a: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durch </a:t>
            </a: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Klicken </a:t>
            </a: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341360" y="0"/>
            <a:ext cx="456480" cy="532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2651760" y="0"/>
            <a:ext cx="456480" cy="514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3931920" y="0"/>
            <a:ext cx="456480" cy="514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212080" y="0"/>
            <a:ext cx="456480" cy="514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92240" y="0"/>
            <a:ext cx="456480" cy="514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772400" y="0"/>
            <a:ext cx="456480" cy="514296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65760" y="6400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TESTAUFGABE · INTERSHOP COMMUNICATIONS AG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56760" y="1045800"/>
            <a:ext cx="59428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Automatisierung der Zuordnung von</a:t>
            </a:r>
            <a:endParaRPr b="0" lang="de-DE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Kundenherausforderungen zu</a:t>
            </a:r>
            <a:endParaRPr b="0" lang="de-DE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Intershop-Kundenreferenzen</a:t>
            </a:r>
            <a:endParaRPr b="0" lang="de-DE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65760" y="3291840"/>
            <a:ext cx="3200400" cy="360"/>
          </a:xfrm>
          <a:prstGeom prst="line">
            <a:avLst/>
          </a:prstGeom>
          <a:ln w="1905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60000" y="34200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899aa"/>
                </a:solidFill>
                <a:latin typeface="Calibri"/>
                <a:ea typeface="Calibri"/>
              </a:rPr>
              <a:t>Onur Yazicioglu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60000" y="36860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  <a:ea typeface="Calibri"/>
              </a:rPr>
              <a:t>April 2026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492240" y="1005840"/>
            <a:ext cx="2285280" cy="47484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492240" y="1005840"/>
            <a:ext cx="2285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FastAPI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492240" y="1710000"/>
            <a:ext cx="2285280" cy="474840"/>
          </a:xfrm>
          <a:prstGeom prst="rect">
            <a:avLst/>
          </a:prstGeom>
          <a:solidFill>
            <a:srgbClr val="1e90ff">
              <a:alpha val="25000"/>
            </a:srgbClr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492240" y="1710000"/>
            <a:ext cx="2285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ChromaDB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492240" y="2414160"/>
            <a:ext cx="2285280" cy="4748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492240" y="2414160"/>
            <a:ext cx="2285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sentence-transformers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492240" y="3117960"/>
            <a:ext cx="2285280" cy="4748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92240" y="3117960"/>
            <a:ext cx="2285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Azure AI Foundry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492240" y="3822120"/>
            <a:ext cx="2285280" cy="47484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492240" y="3822120"/>
            <a:ext cx="2285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65760" y="9144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PROBLEMSTELLUNG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365760" y="38412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Warum dieses System?</a:t>
            </a:r>
            <a:endParaRPr b="0" lang="de-D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20040" y="1097280"/>
            <a:ext cx="2696760" cy="265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320040" y="1188720"/>
            <a:ext cx="2696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❓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11480" y="17830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Calibri"/>
              </a:rPr>
              <a:t>Manuelle Suche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29840" y="2176200"/>
            <a:ext cx="24865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Vertriebsmitarbeiter oder Kunden suchen manuell nach passenden Referenzen – zeitaufwändig und inkonsistent.</a:t>
            </a:r>
            <a:endParaRPr b="0" lang="de-DE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3200400" y="1097280"/>
            <a:ext cx="2696760" cy="265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3200400" y="1188720"/>
            <a:ext cx="2696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3291840" y="17830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Calibri"/>
              </a:rPr>
              <a:t>Unstrukturierte Daten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3310200" y="2176200"/>
            <a:ext cx="24865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Kundenreferenzen liegen auf der Website unstrukturiert vor – kein direkter Datenzugriff, keine API.</a:t>
            </a:r>
            <a:endParaRPr b="0" lang="de-DE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6080760" y="1097280"/>
            <a:ext cx="2696760" cy="265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6080760" y="1188720"/>
            <a:ext cx="2696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🔗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6172200" y="1783080"/>
            <a:ext cx="2513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Calibri"/>
              </a:rPr>
              <a:t>Kein Kontext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6190560" y="2176200"/>
            <a:ext cx="24865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Es gibt keine Zuordnung zwischen Herausforderungen und Referenzen. Jeder Vertriebsmitarbeiter arbeitet anders.</a:t>
            </a:r>
            <a:endParaRPr b="0" lang="de-DE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320040" y="3977640"/>
            <a:ext cx="8503920" cy="360"/>
          </a:xfrm>
          <a:prstGeom prst="line">
            <a:avLst/>
          </a:prstGeom>
          <a:ln w="12700">
            <a:solidFill>
              <a:srgbClr val="1e9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1828800" y="4160520"/>
            <a:ext cx="5485680" cy="5936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1828800" y="4160520"/>
            <a:ext cx="5485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→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Lösung: Semantische Automatisierung der Referenzzuordnung</a:t>
            </a:r>
            <a:endParaRPr b="0" lang="de-DE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365760" y="20124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SYSTEMARCHITEKTUR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65760" y="4572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Wie die Komponenten zusammenspielen</a:t>
            </a:r>
            <a:endParaRPr b="0" lang="de-DE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228600" y="1417320"/>
            <a:ext cx="1508040" cy="1096560"/>
          </a:xfrm>
          <a:prstGeom prst="rect">
            <a:avLst/>
          </a:prstGeom>
          <a:solidFill>
            <a:srgbClr val="00b4d8">
              <a:alpha val="80000"/>
            </a:srgbClr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228600" y="1417320"/>
            <a:ext cx="1508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Intershop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Website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1737360" y="1920240"/>
            <a:ext cx="365760" cy="360"/>
          </a:xfrm>
          <a:prstGeom prst="line">
            <a:avLst/>
          </a:prstGeom>
          <a:ln w="254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1874520" y="1417320"/>
            <a:ext cx="1508040" cy="1096560"/>
          </a:xfrm>
          <a:prstGeom prst="rect">
            <a:avLst/>
          </a:prstGeom>
          <a:solidFill>
            <a:srgbClr val="1e90ff">
              <a:alpha val="80000"/>
            </a:srgbClr>
          </a:solidFill>
          <a:ln w="1905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874520" y="1417320"/>
            <a:ext cx="1508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JSON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Dateien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3383280" y="1920240"/>
            <a:ext cx="365760" cy="360"/>
          </a:xfrm>
          <a:prstGeom prst="line">
            <a:avLst/>
          </a:prstGeom>
          <a:ln w="254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3520440" y="1417320"/>
            <a:ext cx="1508040" cy="109656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3520440" y="1417320"/>
            <a:ext cx="1508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ChromaDB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Vektor-DB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5029200" y="1920240"/>
            <a:ext cx="365760" cy="360"/>
          </a:xfrm>
          <a:prstGeom prst="line">
            <a:avLst/>
          </a:prstGeom>
          <a:ln w="254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5166360" y="1417320"/>
            <a:ext cx="1508040" cy="109656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166360" y="1417320"/>
            <a:ext cx="1508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FastAPI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Server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6675120" y="1920240"/>
            <a:ext cx="365760" cy="360"/>
          </a:xfrm>
          <a:prstGeom prst="line">
            <a:avLst/>
          </a:prstGeom>
          <a:ln w="254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6812280" y="1417320"/>
            <a:ext cx="1508040" cy="109656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6812280" y="1417320"/>
            <a:ext cx="1508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228600" y="2697480"/>
            <a:ext cx="3153960" cy="346680"/>
          </a:xfrm>
          <a:prstGeom prst="rect">
            <a:avLst/>
          </a:prstGeom>
          <a:solidFill>
            <a:srgbClr val="00b4d8">
              <a:alpha val="20000"/>
            </a:srgbClr>
          </a:solidFill>
          <a:ln w="9525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228600" y="2697480"/>
            <a:ext cx="3153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⟵  </a:t>
            </a:r>
            <a:r>
              <a:rPr b="0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scraper.py  +  scraper_products.py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3520440" y="2697480"/>
            <a:ext cx="1645200" cy="346680"/>
          </a:xfrm>
          <a:prstGeom prst="rect">
            <a:avLst/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3520440" y="269748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c3aed"/>
                </a:solidFill>
                <a:latin typeface="Calibri"/>
                <a:ea typeface="Calibri"/>
              </a:rPr>
              <a:t>rag.py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5166360" y="2697480"/>
            <a:ext cx="1645200" cy="346680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5166360" y="269748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alibri"/>
                <a:ea typeface="Calibri"/>
              </a:rPr>
              <a:t>server.py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22"/>
          <p:cNvSpPr/>
          <p:nvPr/>
        </p:nvSpPr>
        <p:spPr>
          <a:xfrm>
            <a:off x="6812280" y="2697480"/>
            <a:ext cx="1508040" cy="346680"/>
          </a:xfrm>
          <a:prstGeom prst="rect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6812280" y="2697480"/>
            <a:ext cx="1508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0b981"/>
                </a:solidFill>
                <a:latin typeface="Calibri"/>
                <a:ea typeface="Calibri"/>
              </a:rPr>
              <a:t>user.py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4"/>
          <p:cNvSpPr/>
          <p:nvPr/>
        </p:nvSpPr>
        <p:spPr>
          <a:xfrm>
            <a:off x="365760" y="32918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Wichtige Datendateien:</a:t>
            </a:r>
            <a:endParaRPr b="0" lang="de-DE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5"/>
          <p:cNvSpPr/>
          <p:nvPr/>
        </p:nvSpPr>
        <p:spPr>
          <a:xfrm>
            <a:off x="274320" y="3639240"/>
            <a:ext cx="2056680" cy="749160"/>
          </a:xfrm>
          <a:prstGeom prst="rect">
            <a:avLst/>
          </a:prstGeom>
          <a:solidFill>
            <a:srgbClr val="1e90ff">
              <a:alpha val="12000"/>
            </a:srgbClr>
          </a:solidFill>
          <a:ln w="9525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6"/>
          <p:cNvSpPr/>
          <p:nvPr/>
        </p:nvSpPr>
        <p:spPr>
          <a:xfrm>
            <a:off x="320040" y="3657600"/>
            <a:ext cx="1965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references/*.json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7"/>
          <p:cNvSpPr/>
          <p:nvPr/>
        </p:nvSpPr>
        <p:spPr>
          <a:xfrm>
            <a:off x="320040" y="3959280"/>
            <a:ext cx="1965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Referenz-Dokumente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8"/>
          <p:cNvSpPr/>
          <p:nvPr/>
        </p:nvSpPr>
        <p:spPr>
          <a:xfrm>
            <a:off x="2468880" y="3639240"/>
            <a:ext cx="2056680" cy="749160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2514600" y="3657600"/>
            <a:ext cx="1965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challenges.json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0"/>
          <p:cNvSpPr/>
          <p:nvPr/>
        </p:nvSpPr>
        <p:spPr>
          <a:xfrm>
            <a:off x="2514600" y="3959280"/>
            <a:ext cx="1965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Gespeicherte Herausforderungen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31"/>
          <p:cNvSpPr/>
          <p:nvPr/>
        </p:nvSpPr>
        <p:spPr>
          <a:xfrm>
            <a:off x="4663440" y="3639240"/>
            <a:ext cx="2056680" cy="749160"/>
          </a:xfrm>
          <a:prstGeom prst="rect">
            <a:avLst/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2"/>
          <p:cNvSpPr/>
          <p:nvPr/>
        </p:nvSpPr>
        <p:spPr>
          <a:xfrm>
            <a:off x="4709160" y="3657600"/>
            <a:ext cx="1965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chroma_db/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3"/>
          <p:cNvSpPr/>
          <p:nvPr/>
        </p:nvSpPr>
        <p:spPr>
          <a:xfrm>
            <a:off x="4709160" y="3959280"/>
            <a:ext cx="1965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Vektordatenbank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4"/>
          <p:cNvSpPr/>
          <p:nvPr/>
        </p:nvSpPr>
        <p:spPr>
          <a:xfrm>
            <a:off x="6858000" y="3639240"/>
            <a:ext cx="2056680" cy="749160"/>
          </a:xfrm>
          <a:prstGeom prst="rect">
            <a:avLst/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5"/>
          <p:cNvSpPr/>
          <p:nvPr/>
        </p:nvSpPr>
        <p:spPr>
          <a:xfrm>
            <a:off x="6903720" y="3657600"/>
            <a:ext cx="1965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products.txt</a:t>
            </a:r>
            <a:endParaRPr b="0" lang="de-DE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6"/>
          <p:cNvSpPr/>
          <p:nvPr/>
        </p:nvSpPr>
        <p:spPr>
          <a:xfrm>
            <a:off x="6903720" y="3959280"/>
            <a:ext cx="1965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Produktwissensbasis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365760" y="914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DATENBESCHAFFUNG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65760" y="38412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Zwei Scraper – zwei Datenquellen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274320" y="1005840"/>
            <a:ext cx="3976920" cy="3748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274320" y="1005840"/>
            <a:ext cx="3976920" cy="438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274320" y="1005840"/>
            <a:ext cx="3976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scraper.py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411480" y="153612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Quelle: intershop.com/en/customers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411480" y="1828800"/>
            <a:ext cx="3702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Erkennt alle Kundenkarten (Read more und Visit shop)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Extrahiert: Unternehmensname, Beschreibung, Logo-URL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Speichert jede Referenz als eigene JSON-Datei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Metadaten: read_more / visit_shop, challenges (leer → kann später befüllt werden)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Format direkt LangChain-kompatibel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11480" y="4206240"/>
            <a:ext cx="3702600" cy="383400"/>
          </a:xfrm>
          <a:prstGeom prst="rect">
            <a:avLst/>
          </a:prstGeom>
          <a:solidFill>
            <a:srgbClr val="e8f4fd"/>
          </a:solidFill>
          <a:ln w="12700">
            <a:solidFill>
              <a:srgbClr val="d8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411480" y="4206240"/>
            <a:ext cx="370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b3a5c"/>
                </a:solidFill>
                <a:latin typeface="Calibri"/>
                <a:ea typeface="Calibri"/>
              </a:rPr>
              <a:t>Output: references/lekkerland.json  …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4892040" y="1005840"/>
            <a:ext cx="3976920" cy="3748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4892040" y="1005840"/>
            <a:ext cx="3976920" cy="438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4892040" y="1005840"/>
            <a:ext cx="3976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scraper_products.py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5029200" y="153612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Quelle: 6 Intershop-Lösungsseiten (B2B, B2C, B2X …)</a:t>
            </a:r>
            <a:endParaRPr b="0" lang="de-DE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5029200" y="1828800"/>
            <a:ext cx="3702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Liest Überschriften, Beschreibungen und Feature-Listen aus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Filtert Navigation, Skripte und Footer heraus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Strukturiert Inhalte nach Quell-URL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Speichert alles in products.txt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Dient als Wissensbasis für die LLM-Produktempfehlung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5029200" y="4206240"/>
            <a:ext cx="3702600" cy="383400"/>
          </a:xfrm>
          <a:prstGeom prst="rect">
            <a:avLst/>
          </a:prstGeom>
          <a:solidFill>
            <a:srgbClr val="e8f4fd"/>
          </a:solidFill>
          <a:ln w="12700">
            <a:solidFill>
              <a:srgbClr val="d8e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5029200" y="4206240"/>
            <a:ext cx="3702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b3a5c"/>
                </a:solidFill>
                <a:latin typeface="Calibri"/>
                <a:ea typeface="Calibri"/>
              </a:rPr>
              <a:t>Output: products.txt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365760" y="20124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KERN DES SYSTEMS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65760" y="457200"/>
            <a:ext cx="8411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Semantische Suche, Deduplizierung &amp; gefiltertes RAG</a:t>
            </a:r>
            <a:endParaRPr b="0" lang="de-DE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274320" y="10058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Neue Herausforderung einreichen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274320" y="1417320"/>
            <a:ext cx="328320" cy="328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27432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685800" y="142632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Nutzer gibt Herausforderung ein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274320" y="1965960"/>
            <a:ext cx="328320" cy="3283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274320" y="19659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685800" y="197496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Embedding via all-MiniLM-L6-v2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274320" y="2514600"/>
            <a:ext cx="328320" cy="328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274320" y="2514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685800" y="252360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Kosinus-Ähnlichkeit zu gespeicherten Challenges prüfen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274320" y="3063240"/>
            <a:ext cx="328320" cy="328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274320" y="30632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685800" y="307224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Duplikat (≥85%)? → Ablehnen mit Hinweis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274320" y="3611880"/>
            <a:ext cx="328320" cy="328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274320" y="36118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685800" y="362088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Unique? → Referenzen taggen + speichern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274320" y="4160520"/>
            <a:ext cx="328320" cy="328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274320" y="41605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685800" y="4169520"/>
            <a:ext cx="3565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Automatisch Suche auslösen (POST → GET /search)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4431240" y="966240"/>
            <a:ext cx="360" cy="3539880"/>
          </a:xfrm>
          <a:prstGeom prst="line">
            <a:avLst/>
          </a:prstGeom>
          <a:ln w="9525">
            <a:solidFill>
              <a:srgbClr val="8899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4754880" y="10058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90ff"/>
                </a:solidFill>
                <a:latin typeface="Calibri"/>
                <a:ea typeface="Calibri"/>
              </a:rPr>
              <a:t>Suche (RAG + Metadatenfilter)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4754880" y="1417320"/>
            <a:ext cx="328320" cy="3283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475488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5166360" y="142632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Challenge-Text embedden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4754880" y="2075760"/>
            <a:ext cx="328320" cy="328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4754880" y="2075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5166360" y="208476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Top-15 Kandidaten aus ChromaDB abrufen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4754880" y="2734200"/>
            <a:ext cx="328320" cy="328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0"/>
          <p:cNvSpPr/>
          <p:nvPr/>
        </p:nvSpPr>
        <p:spPr>
          <a:xfrm>
            <a:off x="4754880" y="27342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5166360" y="274320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Jede Referenz-JSON öffnen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4754880" y="3392280"/>
            <a:ext cx="328320" cy="328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4754880" y="33922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4"/>
          <p:cNvSpPr/>
          <p:nvPr/>
        </p:nvSpPr>
        <p:spPr>
          <a:xfrm>
            <a:off x="5166360" y="340164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Ist Challenge in metadata.challenges? → Filtern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35"/>
          <p:cNvSpPr/>
          <p:nvPr/>
        </p:nvSpPr>
        <p:spPr>
          <a:xfrm>
            <a:off x="4754880" y="4050720"/>
            <a:ext cx="328320" cy="328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6"/>
          <p:cNvSpPr/>
          <p:nvPr/>
        </p:nvSpPr>
        <p:spPr>
          <a:xfrm>
            <a:off x="4754880" y="4050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5166360" y="406008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Top-5 nach Ähnlichkeit zurückgeben</a:t>
            </a:r>
            <a:endParaRPr b="0" lang="de-DE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8"/>
          <p:cNvSpPr/>
          <p:nvPr/>
        </p:nvSpPr>
        <p:spPr>
          <a:xfrm>
            <a:off x="274320" y="4663440"/>
            <a:ext cx="8594640" cy="346680"/>
          </a:xfrm>
          <a:prstGeom prst="rect">
            <a:avLst/>
          </a:prstGeom>
          <a:solidFill>
            <a:srgbClr val="1e90ff">
              <a:alpha val="20000"/>
            </a:srgbClr>
          </a:solidFill>
          <a:ln w="9525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9"/>
          <p:cNvSpPr/>
          <p:nvPr/>
        </p:nvSpPr>
        <p:spPr>
          <a:xfrm>
            <a:off x="274320" y="466344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Zwei-Stufen-Filter: erst semantische Ähnlichkeit, dann explizites Metadaten-Tagging → präzise, begründete Ergebnisse</a:t>
            </a:r>
            <a:endParaRPr b="0" lang="de-DE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65760" y="914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REST API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365760" y="38412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6 Endpunkte – vollständig über CLI bedienbar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255960" y="102420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255960" y="1024200"/>
            <a:ext cx="54000" cy="1718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365760" y="1097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➕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850320" y="1134000"/>
            <a:ext cx="502200" cy="236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850320" y="113400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POST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65760" y="155448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/challenge/new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365760" y="184716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Neue Herausforderung einreichen. Deduplizierung, Tagging, automatische Suche.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3200400" y="102420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3200400" y="1024200"/>
            <a:ext cx="54000" cy="17182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3310200" y="1097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🔍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3"/>
          <p:cNvSpPr/>
          <p:nvPr/>
        </p:nvSpPr>
        <p:spPr>
          <a:xfrm>
            <a:off x="3794760" y="1134000"/>
            <a:ext cx="502200" cy="2368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3794760" y="113400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GET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3310200" y="155448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/search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3310200" y="184716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RAG-Suche für eine bekannte Herausforderung. Gibt Top-5 gefilterte Referenzen zurück.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7"/>
          <p:cNvSpPr/>
          <p:nvPr/>
        </p:nvSpPr>
        <p:spPr>
          <a:xfrm>
            <a:off x="6144840" y="102420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6144840" y="1024200"/>
            <a:ext cx="54000" cy="1718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6254640" y="1097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6739200" y="1134000"/>
            <a:ext cx="502200" cy="236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6739200" y="113400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GET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6254640" y="155448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/visualization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6254640" y="184716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Balkendiagramm im Terminal: Herausforderung → Anzahl getaggter Referenzen.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4"/>
          <p:cNvSpPr/>
          <p:nvPr/>
        </p:nvSpPr>
        <p:spPr>
          <a:xfrm>
            <a:off x="255960" y="294444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5"/>
          <p:cNvSpPr/>
          <p:nvPr/>
        </p:nvSpPr>
        <p:spPr>
          <a:xfrm>
            <a:off x="255960" y="2944440"/>
            <a:ext cx="54000" cy="1718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6"/>
          <p:cNvSpPr/>
          <p:nvPr/>
        </p:nvSpPr>
        <p:spPr>
          <a:xfrm>
            <a:off x="365760" y="30175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7"/>
          <p:cNvSpPr/>
          <p:nvPr/>
        </p:nvSpPr>
        <p:spPr>
          <a:xfrm>
            <a:off x="850320" y="3054240"/>
            <a:ext cx="502200" cy="23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8"/>
          <p:cNvSpPr/>
          <p:nvPr/>
        </p:nvSpPr>
        <p:spPr>
          <a:xfrm>
            <a:off x="850320" y="305424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GET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9"/>
          <p:cNvSpPr/>
          <p:nvPr/>
        </p:nvSpPr>
        <p:spPr>
          <a:xfrm>
            <a:off x="365760" y="347472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/product-recommendation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0"/>
          <p:cNvSpPr/>
          <p:nvPr/>
        </p:nvSpPr>
        <p:spPr>
          <a:xfrm>
            <a:off x="365760" y="376740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LLM-Produktempfehlung via Azure AI Foundry basierend auf Herausforderung + products.txt.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1"/>
          <p:cNvSpPr/>
          <p:nvPr/>
        </p:nvSpPr>
        <p:spPr>
          <a:xfrm>
            <a:off x="3200400" y="294444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2"/>
          <p:cNvSpPr/>
          <p:nvPr/>
        </p:nvSpPr>
        <p:spPr>
          <a:xfrm>
            <a:off x="3200400" y="2944440"/>
            <a:ext cx="54000" cy="1718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3"/>
          <p:cNvSpPr/>
          <p:nvPr/>
        </p:nvSpPr>
        <p:spPr>
          <a:xfrm>
            <a:off x="3310200" y="30175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4"/>
          <p:cNvSpPr/>
          <p:nvPr/>
        </p:nvSpPr>
        <p:spPr>
          <a:xfrm>
            <a:off x="3794760" y="3054240"/>
            <a:ext cx="502200" cy="236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5"/>
          <p:cNvSpPr/>
          <p:nvPr/>
        </p:nvSpPr>
        <p:spPr>
          <a:xfrm>
            <a:off x="3794760" y="305424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GET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36"/>
          <p:cNvSpPr/>
          <p:nvPr/>
        </p:nvSpPr>
        <p:spPr>
          <a:xfrm>
            <a:off x="3310200" y="347472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/challenges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7"/>
          <p:cNvSpPr/>
          <p:nvPr/>
        </p:nvSpPr>
        <p:spPr>
          <a:xfrm>
            <a:off x="3310200" y="376740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Liste aller gespeicherten Herausforderungen aus challenges.json.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8"/>
          <p:cNvSpPr/>
          <p:nvPr/>
        </p:nvSpPr>
        <p:spPr>
          <a:xfrm>
            <a:off x="6144840" y="2944440"/>
            <a:ext cx="2788200" cy="1718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9"/>
          <p:cNvSpPr/>
          <p:nvPr/>
        </p:nvSpPr>
        <p:spPr>
          <a:xfrm>
            <a:off x="6144840" y="2944440"/>
            <a:ext cx="54000" cy="17182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40"/>
          <p:cNvSpPr/>
          <p:nvPr/>
        </p:nvSpPr>
        <p:spPr>
          <a:xfrm>
            <a:off x="6254640" y="30175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🗺️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1"/>
          <p:cNvSpPr/>
          <p:nvPr/>
        </p:nvSpPr>
        <p:spPr>
          <a:xfrm>
            <a:off x="6739200" y="3054240"/>
            <a:ext cx="502200" cy="2368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42"/>
          <p:cNvSpPr/>
          <p:nvPr/>
        </p:nvSpPr>
        <p:spPr>
          <a:xfrm>
            <a:off x="6739200" y="3054240"/>
            <a:ext cx="502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GET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3"/>
          <p:cNvSpPr/>
          <p:nvPr/>
        </p:nvSpPr>
        <p:spPr>
          <a:xfrm>
            <a:off x="6254640" y="3474720"/>
            <a:ext cx="257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3a5c"/>
                </a:solidFill>
                <a:latin typeface="Calibri"/>
                <a:ea typeface="Calibri"/>
              </a:rPr>
              <a:t>/endpoints</a:t>
            </a:r>
            <a:endParaRPr b="0" lang="de-DE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4"/>
          <p:cNvSpPr/>
          <p:nvPr/>
        </p:nvSpPr>
        <p:spPr>
          <a:xfrm>
            <a:off x="6254640" y="3767400"/>
            <a:ext cx="25779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Übersicht aller verfügbaren API-Endpunkte mit Beschreibung.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365760" y="20124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TECHNOLOGIE-STACK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365760" y="4572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Bewusst gewählte Werkzeuge</a:t>
            </a:r>
            <a:endParaRPr b="0" lang="de-DE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228600" y="1051560"/>
            <a:ext cx="2056680" cy="1690920"/>
          </a:xfrm>
          <a:prstGeom prst="rect">
            <a:avLst/>
          </a:prstGeom>
          <a:solidFill>
            <a:srgbClr val="8899aa">
              <a:alpha val="12000"/>
            </a:srgbClr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228600" y="1051560"/>
            <a:ext cx="2056680" cy="2552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228600" y="105156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VIBE CODING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301680" y="134424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KI-Assistenten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301680" y="171000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Claude Sonnet 4.6 &amp; ChatGPT für Brainstorming, Implementierung und Dokumentation.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2423160" y="1051560"/>
            <a:ext cx="2056680" cy="169092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2423160" y="1051560"/>
            <a:ext cx="2056680" cy="255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2423160" y="105156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BACKEND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2496240" y="134424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Python + FastAPI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2496240" y="171000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Schnelle, typsichere REST-API mit automatischer Validierung und interaktiver Dokumentation.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4617720" y="1051560"/>
            <a:ext cx="2056680" cy="16909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4617720" y="1051560"/>
            <a:ext cx="2056680" cy="255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4617720" y="105156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OFFLINE NEURAL NET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4690800" y="134424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all-MiniLM-L6-v2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4690800" y="171000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Bewusst gewählt: lokales neuronales Netzwerkmodell, vollständig offline – ohne Cloud-Abhängigkeit.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6812280" y="1051560"/>
            <a:ext cx="2056680" cy="1690920"/>
          </a:xfrm>
          <a:prstGeom prst="rect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6812280" y="1051560"/>
            <a:ext cx="2056680" cy="255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6812280" y="105156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VEKTORDATENBANK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6885360" y="134424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ChromaDB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6885360" y="171000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Lokale, persistente Vektordatenbank – keine separate Datenbankinstallation nötig.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228600" y="2926080"/>
            <a:ext cx="2056680" cy="169092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228600" y="2926080"/>
            <a:ext cx="2056680" cy="255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228600" y="292608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RAG-ORCHESTRIERUNG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301680" y="321876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301680" y="358452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Einheitliche Document-Abstraktion, direkte ChromaDB-Integration für die RAG-Pipeline.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27"/>
          <p:cNvSpPr/>
          <p:nvPr/>
        </p:nvSpPr>
        <p:spPr>
          <a:xfrm>
            <a:off x="2423160" y="2926080"/>
            <a:ext cx="2056680" cy="16909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2423160" y="2926080"/>
            <a:ext cx="2056680" cy="255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9"/>
          <p:cNvSpPr/>
          <p:nvPr/>
        </p:nvSpPr>
        <p:spPr>
          <a:xfrm>
            <a:off x="2423160" y="292608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ONLINE AI PLATTFORM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0"/>
          <p:cNvSpPr/>
          <p:nvPr/>
        </p:nvSpPr>
        <p:spPr>
          <a:xfrm>
            <a:off x="2496240" y="321876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Azure AI Foundry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2496240" y="358452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Bewusst gewählt: zeigt, dass ich cloud-basierte KI- und ML-Dienste professionell einsetzen kann.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32"/>
          <p:cNvSpPr/>
          <p:nvPr/>
        </p:nvSpPr>
        <p:spPr>
          <a:xfrm>
            <a:off x="4617720" y="2926080"/>
            <a:ext cx="2056680" cy="169092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33"/>
          <p:cNvSpPr/>
          <p:nvPr/>
        </p:nvSpPr>
        <p:spPr>
          <a:xfrm>
            <a:off x="4617720" y="2926080"/>
            <a:ext cx="2056680" cy="255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34"/>
          <p:cNvSpPr/>
          <p:nvPr/>
        </p:nvSpPr>
        <p:spPr>
          <a:xfrm>
            <a:off x="4617720" y="292608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WEB SCRAPING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35"/>
          <p:cNvSpPr/>
          <p:nvPr/>
        </p:nvSpPr>
        <p:spPr>
          <a:xfrm>
            <a:off x="4690800" y="321876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BeautifulSoup + Requests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6"/>
          <p:cNvSpPr/>
          <p:nvPr/>
        </p:nvSpPr>
        <p:spPr>
          <a:xfrm>
            <a:off x="4690800" y="358452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Leichtgewichtiges Scraping der Intershop-Seite ohne Browser-Overhead.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37"/>
          <p:cNvSpPr/>
          <p:nvPr/>
        </p:nvSpPr>
        <p:spPr>
          <a:xfrm>
            <a:off x="6812280" y="2926080"/>
            <a:ext cx="2056680" cy="1690920"/>
          </a:xfrm>
          <a:prstGeom prst="rect">
            <a:avLst/>
          </a:prstGeom>
          <a:solidFill>
            <a:srgbClr val="8899aa">
              <a:alpha val="12000"/>
            </a:srgbClr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38"/>
          <p:cNvSpPr/>
          <p:nvPr/>
        </p:nvSpPr>
        <p:spPr>
          <a:xfrm>
            <a:off x="6812280" y="2926080"/>
            <a:ext cx="2056680" cy="2552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39"/>
          <p:cNvSpPr/>
          <p:nvPr/>
        </p:nvSpPr>
        <p:spPr>
          <a:xfrm>
            <a:off x="6812280" y="2926080"/>
            <a:ext cx="2056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45" strike="noStrike">
                <a:solidFill>
                  <a:srgbClr val="ffffff"/>
                </a:solidFill>
                <a:latin typeface="Calibri"/>
                <a:ea typeface="Calibri"/>
              </a:rPr>
              <a:t>MATHEMATIK</a:t>
            </a:r>
            <a:endParaRPr b="0" lang="de-DE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40"/>
          <p:cNvSpPr/>
          <p:nvPr/>
        </p:nvSpPr>
        <p:spPr>
          <a:xfrm>
            <a:off x="6885360" y="3218760"/>
            <a:ext cx="1919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scikit-learn</a:t>
            </a:r>
            <a:endParaRPr b="0" lang="de-DE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1"/>
          <p:cNvSpPr/>
          <p:nvPr/>
        </p:nvSpPr>
        <p:spPr>
          <a:xfrm>
            <a:off x="6885360" y="3584520"/>
            <a:ext cx="1919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Kosinus-Ähnlichkeit für die Challenge-Deduplizierung – numerisch stabil und bewährt.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65760" y="914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AUSBLICK &amp; ERWEITERBARKEIT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365760" y="38412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Was bereits geplant – was noch möglich ist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255960" y="1005840"/>
            <a:ext cx="2788200" cy="1782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255960" y="1078920"/>
            <a:ext cx="278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347400" y="1572840"/>
            <a:ext cx="2605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Calibri"/>
              </a:rPr>
              <a:t>Web-Frontend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347400" y="190188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Da das System REST-API-basiert ist, kann jederzeit ein Web-Frontend ergänzt werden, das die Endpunkte über eine grafische Oberfläche zugänglich macht.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3200400" y="1005840"/>
            <a:ext cx="2788200" cy="1782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3200400" y="1078920"/>
            <a:ext cx="278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3291840" y="1572840"/>
            <a:ext cx="2605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Calibri"/>
              </a:rPr>
              <a:t>Detailseiten (Dual Vector Space)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3291840" y="190188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Die Read-more-Links wurden noch nicht genutzt. Für lange Detailseiten empfiehlt sich ein zweiter, separater Vektorraum – unterschiedliche Chunklängen im selben Raum verzerren die Suche.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6144840" y="1005840"/>
            <a:ext cx="2788200" cy="1782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6144840" y="1078920"/>
            <a:ext cx="278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🧠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6236280" y="1572840"/>
            <a:ext cx="2605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Calibri"/>
              </a:rPr>
              <a:t>Zero-Shot-Klassifikation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6236280" y="190188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Statt Embeddings für das Tagging könnten Zero-Shot-Klassifikatoren eingesetzt werden – präziser, aber das Hinzufügen neuer Herausforderungen wird damit aufwändiger.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1711440" y="2944440"/>
            <a:ext cx="2788200" cy="1782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1711440" y="3017520"/>
            <a:ext cx="278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1800000" y="3492720"/>
            <a:ext cx="2605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Calibri"/>
              </a:rPr>
              <a:t>Embedding-Modell austauschen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1800000" y="384048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Das lokale Modell kann jederzeit durch OpenAI- oder Azure-Embeddings ersetzt werden – eine einzige Zeile in embedder.py genügt.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4680000" y="2944440"/>
            <a:ext cx="2788200" cy="1782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4680000" y="3017520"/>
            <a:ext cx="278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🧪</a:t>
            </a:r>
            <a:endParaRPr b="0" lang="de-DE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4774320" y="3492720"/>
            <a:ext cx="2605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Calibri"/>
              </a:rPr>
              <a:t>Unit Tests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4774320" y="384048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5568"/>
                </a:solidFill>
                <a:latin typeface="Calibri"/>
                <a:ea typeface="Calibri"/>
              </a:rPr>
              <a:t>Tests für Deduplizierungslogik, Tagging und RAG-Pipeline würden die Robustheit des Systems erhöhen und Regressionsfehler bei Erweiterungen verhindern.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365760" y="5486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b4d8"/>
                </a:solidFill>
                <a:latin typeface="Calibri"/>
                <a:ea typeface="Calibri"/>
              </a:rPr>
              <a:t>ZUSAMMENFASSUNG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365760" y="841320"/>
            <a:ext cx="6400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Was dieses System leistet</a:t>
            </a:r>
            <a:endParaRPr b="0" lang="de-DE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365760" y="150876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Automatische Extraktion von Intershop-Referenz- und Produktdaten via Web Scraping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365760" y="1920240"/>
            <a:ext cx="8046720" cy="360"/>
          </a:xfrm>
          <a:prstGeom prst="line">
            <a:avLst/>
          </a:prstGeom>
          <a:ln w="381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365760" y="202068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Semantische Herausforderungs-Zuordnung mit lokalem neuronalem Netzwerkmodell (offline)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365760" y="2432160"/>
            <a:ext cx="8046720" cy="360"/>
          </a:xfrm>
          <a:prstGeom prst="line">
            <a:avLst/>
          </a:prstGeom>
          <a:ln w="381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365760" y="253296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Zweistufiger RAG-Filter: Vektorsuche + Metadaten-Tagging für präzise Ergebnisse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365760" y="2944080"/>
            <a:ext cx="8046720" cy="360"/>
          </a:xfrm>
          <a:prstGeom prst="line">
            <a:avLst/>
          </a:prstGeom>
          <a:ln w="381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365760" y="304488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Deduplizierung neuer Herausforderungen via Kosinus-Ähnlichkeit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365760" y="3456360"/>
            <a:ext cx="8046720" cy="360"/>
          </a:xfrm>
          <a:prstGeom prst="line">
            <a:avLst/>
          </a:prstGeom>
          <a:ln w="381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365760" y="355716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LLM-Produktempfehlung via Azure AI Foundry (cloud-basiert)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365760" y="3968280"/>
            <a:ext cx="8046720" cy="360"/>
          </a:xfrm>
          <a:prstGeom prst="line">
            <a:avLst/>
          </a:prstGeom>
          <a:ln w="381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365760" y="406908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✅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Vollständig modular – Frontend, neue Modelle und Tests jederzeit ergänzbar</a:t>
            </a:r>
            <a:endParaRPr b="0" lang="de-DE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365760" y="475488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Onur Yazicioglu  ·  April 2026</a:t>
            </a: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2026-04-27T11:44:24Z</dcterms:created>
  <dc:creator>Onur Yazıcıoğlu</dc:creator>
  <dc:description/>
  <dc:language>de-DE</dc:language>
  <cp:lastModifiedBy/>
  <dcterms:modified xsi:type="dcterms:W3CDTF">2026-04-28T23:34:07Z</dcterms:modified>
  <cp:revision>6</cp:revision>
  <dc:subject>PptxGenJS Presentation</dc:subject>
  <dc:title>Intershop Reference Matcher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